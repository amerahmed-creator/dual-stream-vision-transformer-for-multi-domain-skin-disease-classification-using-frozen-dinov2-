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323F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10323F"/>
                </a:solidFill>
                <a:latin typeface="Calibri"/>
              </a:rPr>
              <a:t>Domain composition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Domain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B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BB2-4B5D-BCDE-461D521B7319}"/>
              </c:ext>
            </c:extLst>
          </c:dPt>
          <c:dPt>
            <c:idx val="1"/>
            <c:bubble3D val="0"/>
            <c:spPr>
              <a:solidFill>
                <a:srgbClr val="1FA46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B2-4B5D-BCDE-461D521B7319}"/>
              </c:ext>
            </c:extLst>
          </c:dPt>
          <c:dPt>
            <c:idx val="2"/>
            <c:bubble3D val="0"/>
            <c:spPr>
              <a:solidFill>
                <a:srgbClr val="D9543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B2-4B5D-BCDE-461D521B7319}"/>
              </c:ext>
            </c:extLst>
          </c:dPt>
          <c:cat>
            <c:strRef>
              <c:f>Sheet1!$A$2:$A$4</c:f>
              <c:strCache>
                <c:ptCount val="3"/>
                <c:pt idx="0">
                  <c:v>Benign</c:v>
                </c:pt>
                <c:pt idx="1">
                  <c:v>Infectious</c:v>
                </c:pt>
                <c:pt idx="2">
                  <c:v>Oncological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30.9</c:v>
                </c:pt>
                <c:pt idx="2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B2-4B5D-BCDE-461D521B7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23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0323F"/>
                </a:solidFill>
                <a:latin typeface="Calibri"/>
              </a:rPr>
              <a:t>Domain share per batch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Natural distribution</c:v>
                </c:pt>
              </c:strCache>
            </c:strRef>
          </c:tx>
          <c:spPr>
            <a:solidFill>
              <a:srgbClr val="A9BEC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Oncological</c:v>
                </c:pt>
                <c:pt idx="1">
                  <c:v>Benign</c:v>
                </c:pt>
                <c:pt idx="2">
                  <c:v>Infectious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25.5</c:v>
                </c:pt>
                <c:pt idx="1">
                  <c:v>43.6</c:v>
                </c:pt>
                <c:pt idx="2">
                  <c:v>30.9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8-406F-8A1B-79505D08DB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balanced sampler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Oncological</c:v>
                </c:pt>
                <c:pt idx="1">
                  <c:v>Benign</c:v>
                </c:pt>
                <c:pt idx="2">
                  <c:v>Infectious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31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F8-406F-8A1B-79505D08DB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6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5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2757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23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0323F"/>
                </a:solidFill>
                <a:latin typeface="Calibri"/>
              </a:rPr>
              <a:t>Baseline performance by domain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A9BEC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Oncological</c:v>
                </c:pt>
                <c:pt idx="1">
                  <c:v>Benign</c:v>
                </c:pt>
                <c:pt idx="2">
                  <c:v>Infectious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53.4</c:v>
                </c:pt>
                <c:pt idx="1">
                  <c:v>53.3</c:v>
                </c:pt>
                <c:pt idx="2">
                  <c:v>85.4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DE-4DD1-AD1B-4617A8CFA9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× 100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Oncological</c:v>
                </c:pt>
                <c:pt idx="1">
                  <c:v>Benign</c:v>
                </c:pt>
                <c:pt idx="2">
                  <c:v>Infectious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23.1</c:v>
                </c:pt>
                <c:pt idx="1">
                  <c:v>14.7</c:v>
                </c:pt>
                <c:pt idx="2">
                  <c:v>51.7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DE-4DD1-AD1B-4617A8CFA9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6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5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2757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23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0323F"/>
                </a:solidFill>
                <a:latin typeface="Calibri"/>
              </a:rPr>
              <a:t>Macro F1 across model variants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A9BE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C3-4F04-97BE-746AB21CDE21}"/>
              </c:ext>
            </c:extLst>
          </c:dPt>
          <c:dPt>
            <c:idx val="1"/>
            <c:invertIfNegative val="0"/>
            <c:bubble3D val="0"/>
            <c:spPr>
              <a:solidFill>
                <a:srgbClr val="D954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C3-4F04-97BE-746AB21CDE21}"/>
              </c:ext>
            </c:extLst>
          </c:dPt>
          <c:dPt>
            <c:idx val="2"/>
            <c:invertIfNegative val="0"/>
            <c:bubble3D val="0"/>
            <c:spPr>
              <a:solidFill>
                <a:srgbClr val="6FA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C3-4F04-97BE-746AB21CDE21}"/>
              </c:ext>
            </c:extLst>
          </c:dPt>
          <c:dPt>
            <c:idx val="3"/>
            <c:invertIfNegative val="0"/>
            <c:bubble3D val="0"/>
            <c:spPr>
              <a:solidFill>
                <a:srgbClr val="6FA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C3-4F04-97BE-746AB21CDE21}"/>
              </c:ext>
            </c:extLst>
          </c:dPt>
          <c:dPt>
            <c:idx val="4"/>
            <c:invertIfNegative val="0"/>
            <c:bubble3D val="0"/>
            <c:spPr>
              <a:solidFill>
                <a:srgbClr val="6FA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1C3-4F04-97BE-746AB21CDE21}"/>
              </c:ext>
            </c:extLst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1C3-4F04-97BE-746AB21CDE21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
(linear)</c:v>
                </c:pt>
                <c:pt idx="1">
                  <c:v>No domain
routing</c:v>
                </c:pt>
                <c:pt idx="2">
                  <c:v>Single-stream
MLP</c:v>
                </c:pt>
                <c:pt idx="3">
                  <c:v>No focal
(CE)</c:v>
                </c:pt>
                <c:pt idx="4">
                  <c:v>No contrastive
loss</c:v>
                </c:pt>
                <c:pt idx="5">
                  <c:v>Proposed
(full)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0.59440000000000004</c:v>
                </c:pt>
                <c:pt idx="1">
                  <c:v>0.71540000000000004</c:v>
                </c:pt>
                <c:pt idx="2">
                  <c:v>0.71899999999999997</c:v>
                </c:pt>
                <c:pt idx="3">
                  <c:v>0.71919999999999995</c:v>
                </c:pt>
                <c:pt idx="4">
                  <c:v>0.72089999999999999</c:v>
                </c:pt>
                <c:pt idx="5">
                  <c:v>0.72360000000000002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1C3-4F04-97BE-746AB21CDE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8"/>
          <c:min val="0.55000000000000004"/>
        </c:scaling>
        <c:delete val="0"/>
        <c:axPos val="l"/>
        <c:majorGridlines>
          <c:spPr>
            <a:ln w="12700" cap="flat">
              <a:solidFill>
                <a:srgbClr val="E6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5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14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total. ~30 s here. One line: a single model that screens skin images across cancer, benign and infectious disease at once, training under 1% of the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Read the last column: high accuracies, but each inside one narrow domain. Our number is lower because the task is strictly harder — three domains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Two benchmark sets merged: HAM10000 dermoscopy plus MSLD v2.0 clinical photos. Flag the resolution gap — it is why style augmentation exists in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three are complementary: augmentation fixes sample scarcity, style augmentation fixes the source shortcut, the sampler fixes batch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The baseline is deliberately the strongest trivial option: same features, same data pipeline, only the head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This slide is the argument for the architecture — the failure is not uniform, it is domain-structured, so the fix should be structural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 — the core slide. Walk the diagram left to right, then land on the right-hand column: what makes this different is the router, not the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Do not read the per-class table aloud — point at the Δ column: 13 of 14 improved. Then the three callouts on the right, which are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Anticipate the question that the deltas look small: answer with the single-stream MLP control — matched parameters, worse F1 — and that no ablation is redundant. The v1 fix was γ=1.0, no class weights, contrastive weight 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Be direct about the missed target — owning it reads better than defending it. Four classes carry the whole gap, and two of them simply do not have enough data. The v1 story is the honest one: over-correcting imbalance three ways at once broke the majority classes, and v2 fixed it by removing class weights from the focal loss and easing the contrastive weight. Honest framing: the architecture fixed the routing problem, not the data scarcity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 including the demo. Leave 2-3 min for questions. If the demo fails, fall back to describing the router weights on a known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F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CITY UNIVERSITY  ·  SCHOOL OF COMPUTING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Dual-Stream Vision Transformer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Multi-Domain Skin Disease Classification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frozen DINOv2 backbone  ·  14 classes  ·  3 medical domains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3516137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Sawanth Kanjarla   ·   Amer Ahmed Mohammed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Luca Rossetto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ingredient exists — nobody has combined them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252374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unified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Imbalance-aware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 et al. [2] — DINOv2, 31 cls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Alghoraibi et al. [13] — ViT, 6 cls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Badr et al. [10] — hierarchical CNNs, 40 cls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 et al. [8] — BPaCo contrastive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0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— dual-stream DINOv2, 14 cls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434340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06424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cross-domain model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" y="4709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published study classifies oncological, benign and infectious skin conditions inside a single network.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06824" y="416052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07992" y="434340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10328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routing unexplored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07992" y="4709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work uses separate CNNs per domain; routing has never been made learnable and end-to-end.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10728" y="416052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11896" y="434340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118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714232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handled in isolation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11896" y="4709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and focal remedies are validated on single-domain lesion sets, never under a merged-source shift.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36,656 images  ·  14 classes  ·  3 domains  ·  2 merged sources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806440" cy="460857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Melanocytic nevi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Monkeypox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 cell carcinoma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keratosis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Chickenpox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Cowpox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Actinic keratoses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 cell carc.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Vascular lesions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Dermatofibroma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28016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371600"/>
            <a:ext cx="154533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36,656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1384" y="1837030"/>
            <a:ext cx="156362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0" y="128016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71600"/>
            <a:ext cx="154533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84464" y="1837030"/>
            <a:ext cx="156362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012680" y="128016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76688" y="1371600"/>
            <a:ext cx="154533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067544" y="1837030"/>
            <a:ext cx="156362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46520" y="230428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 / 10 split  —  29,322 train  ·  3,660 val  ·  3,674 test</a:t>
            </a:r>
            <a:endParaRPr lang="en-US" sz="10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00800" y="2606040"/>
          <a:ext cx="29260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4"/>
          <p:cNvSpPr/>
          <p:nvPr/>
        </p:nvSpPr>
        <p:spPr>
          <a:xfrm>
            <a:off x="6583680" y="5138928"/>
            <a:ext cx="146304" cy="146304"/>
          </a:xfrm>
          <a:prstGeom prst="ellipse">
            <a:avLst/>
          </a:prstGeom>
          <a:solidFill>
            <a:srgbClr val="2E7DBD"/>
          </a:solidFill>
          <a:ln w="12700">
            <a:solidFill>
              <a:srgbClr val="2E7DB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12280" y="5065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 43.6%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83680" y="5431536"/>
            <a:ext cx="146304" cy="146304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12280" y="5358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 30.9%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583680" y="5724144"/>
            <a:ext cx="146304" cy="146304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12280" y="5650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Oncological  25.5%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464040" y="2606040"/>
            <a:ext cx="2212848" cy="3429000"/>
          </a:xfrm>
          <a:prstGeom prst="roundRect">
            <a:avLst>
              <a:gd name="adj" fmla="val 3306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646920" y="2743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protocol shift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9646920" y="3090672"/>
            <a:ext cx="1874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</a:t>
            </a:r>
            <a:endParaRPr lang="en-US" sz="11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× 754 px, standardised dermoscopy</a:t>
            </a:r>
            <a:endParaRPr lang="en-US" sz="11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MSLDv2.0</a:t>
            </a:r>
            <a:endParaRPr lang="en-US" sz="11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× 274 px, variable clinical photos</a:t>
            </a:r>
            <a:endParaRPr lang="en-US" sz="1100" dirty="0"/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D9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model could learn the camera, not the disease.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mechanisms against imbalance and source shift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444752"/>
            <a:ext cx="310896" cy="310896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6424" y="14264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augmentation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8105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strength scales inversely with class size — rare classes get more diverse views without duplicating majority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28016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444752"/>
            <a:ext cx="310896" cy="310896"/>
          </a:xfrm>
          <a:prstGeom prst="ellipse">
            <a:avLst/>
          </a:prstGeom>
          <a:solidFill>
            <a:srgbClr val="2E7DBD"/>
          </a:solidFill>
          <a:ln w="12700">
            <a:solidFill>
              <a:srgbClr val="2E7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264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normalisation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18105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jitter, Gaussian blur and noise on every tier (Albumentations) to erase source-specific appearance cues.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0728" y="128016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1896" y="1444752"/>
            <a:ext cx="310896" cy="310896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14232" y="14264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Domain-balanced sampling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11896" y="18105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weight = ½ · inverse class frequency + ½ · inverse domain frequency, so every batch sees all three domains.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augmentation strategy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11880"/>
          <a:ext cx="493776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 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18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– 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02920" y="544068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5440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 × 224 and normalised with ImageNet statistics, matching DINOv2 pre-training.</a:t>
            </a:r>
            <a:endParaRPr lang="en-US" sz="11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943600" y="3246120"/>
          <a:ext cx="57607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DINOv2 + a single linear head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9EEF0"/>
          </a:solidFill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0604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224 × 224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2551176"/>
            <a:ext cx="256032" cy="237744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8745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17475A"/>
          </a:solidFill>
          <a:ln w="12700">
            <a:solidFill>
              <a:srgbClr val="17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1031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DINOv2-ViT-B/14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75304" y="260604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 params · all frozen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CLS token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2472" y="2551176"/>
            <a:ext cx="256032" cy="237744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8745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A9BEC5"/>
          </a:solidFill>
          <a:ln w="12700">
            <a:solidFill>
              <a:srgbClr val="A9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linear head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14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12,302 trainable (0.01%)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79408" y="2551176"/>
            <a:ext cx="256032" cy="237744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9448" y="18745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9EEF0"/>
          </a:solidFill>
          <a:ln w="12700">
            <a:solidFill>
              <a:srgbClr val="E9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21031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14-class prediction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260604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over all classes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33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 only — no focal term, no contrastive term, no routing term.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977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4133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53712" y="4480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splits, augmentation and domain-balanced sampler as the proposed model.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1584" y="3977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4133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30184" y="44805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what frozen DINOv2 features alone can do, so every later gain is attributable to architecture.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7607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must separate 14 classes drawn from two completely different imaging modalities.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on infections and collapses on everything else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119786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63.20%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" y="1890065"/>
            <a:ext cx="121615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8528" y="12801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1371600"/>
            <a:ext cx="119786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0.5944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93392" y="1890065"/>
            <a:ext cx="121615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371600"/>
            <a:ext cx="119786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0.6606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890065"/>
            <a:ext cx="121615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128016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371600"/>
            <a:ext cx="119786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64608" y="1890065"/>
            <a:ext cx="121615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errors</a:t>
            </a:r>
            <a:endParaRPr lang="en-US" sz="9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02920" y="265176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6492240" y="1280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93408" y="1481328"/>
            <a:ext cx="146304" cy="146304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31152" y="1389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domain asymmetry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693408" y="17556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classes reach 85.4% accuracy while oncological (53.4%) and benign (53.3%) sit near chance for their class counts.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92240" y="2761488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93408" y="2962656"/>
            <a:ext cx="146304" cy="146304"/>
          </a:xfrm>
          <a:prstGeom prst="ellipse">
            <a:avLst/>
          </a:prstGeom>
          <a:solidFill>
            <a:srgbClr val="2E7DBD"/>
          </a:solidFill>
          <a:ln w="12700">
            <a:solidFill>
              <a:srgbClr val="2E7DB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31152" y="2871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exposes it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693408" y="32369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macro F1 of 0.147 (benign) and 0.231 (oncological) against 0.517 for infectious — accuracy alone hides the failure.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92240" y="4242816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93408" y="4443984"/>
            <a:ext cx="146304" cy="146304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1152" y="4352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cross domain boundaries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693408" y="47183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test images are assigned to a class from the wrong medical domain — a mistake a domain-aware model should never make.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92240" y="5779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These three observations are exactly what the dual-stream design targets.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Dual-stream DINOv2 with a learnable domain router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pic>
        <p:nvPicPr>
          <p:cNvPr id="6" name="Image 0" descr="fig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909560" cy="4517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280160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59952" y="1444752"/>
            <a:ext cx="128016" cy="128016"/>
          </a:xfrm>
          <a:prstGeom prst="ellipse">
            <a:avLst/>
          </a:prstGeom>
          <a:solidFill>
            <a:srgbClr val="17475A"/>
          </a:solidFill>
          <a:ln w="12700">
            <a:solidFill>
              <a:srgbClr val="1747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0" y="1362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stays frozen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59952" y="16642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86M parameters updated — no overfitting on 29K images, trains on one T4.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595360" y="2340864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59952" y="2505456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domain router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59952" y="2724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weights w₁ + w₂ = 1 express uncertainty instead of a hard domain decision.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95360" y="3401568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59952" y="3566160"/>
            <a:ext cx="128016" cy="128016"/>
          </a:xfrm>
          <a:prstGeom prst="ellipse">
            <a:avLst/>
          </a:prstGeom>
          <a:solidFill>
            <a:srgbClr val="2E7DBD"/>
          </a:solidFill>
          <a:ln w="12700">
            <a:solidFill>
              <a:srgbClr val="2E7D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0" y="34838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specialised streams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59952" y="37856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oncological/benign classes and 6 infectious classes get their own head.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595360" y="4462272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59952" y="4626864"/>
            <a:ext cx="128016" cy="128016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0" y="4544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objective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59952" y="4846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· Focal (γ=1) + 1.0 · Routing CE + 0.1 · SupCon (τ=0.07).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595360" y="5559552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59952" y="555955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≈500K</a:t>
            </a:r>
            <a:r>
              <a:rPr lang="en-US" sz="11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trainable of 86.6M  (0.58%)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81.65% accuracy · 0.7236 macro F1 · 13 of 14 classes improved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(Table VI)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4572000" cy="45948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Dermatofibroma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Actinic keratoses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Vascular lesions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 cell carc.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keratosis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 cell carcinoma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Melanocytic nevi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Chickenpox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Monkeypox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Cowpox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492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(Table V)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536192"/>
          <a:ext cx="6309360" cy="124358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(linear)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+18.45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6"/>
          <p:cNvSpPr/>
          <p:nvPr/>
        </p:nvSpPr>
        <p:spPr>
          <a:xfrm>
            <a:off x="534924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level (Table VII)</a:t>
            </a:r>
            <a:endParaRPr lang="en-US" sz="12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3200400"/>
          <a:ext cx="6309360" cy="124358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7D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A4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349240" y="4553712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513832" y="4709160"/>
            <a:ext cx="146304" cy="146304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742432" y="455371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solved   </a:t>
            </a: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0.9785 — all six classes above 0.94. Cowpox 0.985, monkeypox 0.979, chickenpox 0.946.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349240" y="5065776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513832" y="5221224"/>
            <a:ext cx="146304" cy="146304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742432" y="506577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↔ nevi cut 59%   </a:t>
            </a: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clinical confusion falls from 226 to 93 misclassifications.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349240" y="557784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9" name="Shape 14"/>
          <p:cNvSpPr/>
          <p:nvPr/>
        </p:nvSpPr>
        <p:spPr>
          <a:xfrm>
            <a:off x="5513832" y="5733288"/>
            <a:ext cx="146304" cy="146304"/>
          </a:xfrm>
          <a:prstGeom prst="ellipse">
            <a:avLst/>
          </a:prstGeom>
          <a:solidFill>
            <a:srgbClr val="2E7DBD"/>
          </a:solidFill>
          <a:ln w="12700">
            <a:solidFill>
              <a:srgbClr val="2E7DB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742432" y="557784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errors −28.3%   </a:t>
            </a:r>
            <a:r>
              <a:rPr lang="en-US" sz="105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→ 364. Routing accuracy 81.68% → 88.43%; zero infectious images misrouted.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349240" y="60899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test on paired predictions confirms the improvement is statistically significant.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contributes — routing contributes most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280160"/>
          <a:ext cx="6492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492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y-axis starts at 0.55 — the component gaps are small but consistent.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25880"/>
          <a:ext cx="4480560" cy="2304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(linear)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domain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Single-stream 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focal (CE instead)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contrastive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4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(full)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3794760"/>
            <a:ext cx="4480560" cy="786384"/>
          </a:xfrm>
          <a:prstGeom prst="roundRect">
            <a:avLst>
              <a:gd name="adj" fmla="val 9302"/>
            </a:avLst>
          </a:prstGeom>
          <a:solidFill>
            <a:srgbClr val="E4F1F2"/>
          </a:solidFill>
          <a:ln w="12700">
            <a:solidFill>
              <a:srgbClr val="E4F1F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88352" y="3959352"/>
            <a:ext cx="137160" cy="137160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607808" y="3867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the load-bearing part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388352" y="4160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learnable stream activation costs the most (−0.0082 F1) of any single component.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223760" y="4654296"/>
            <a:ext cx="4480560" cy="786384"/>
          </a:xfrm>
          <a:prstGeom prst="roundRect">
            <a:avLst>
              <a:gd name="adj" fmla="val 9302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88352" y="4818888"/>
            <a:ext cx="137160" cy="1371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07808" y="4727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come from design, not size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388352" y="50200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single-stream MLP has the same ≈500K parameters and still loses — capacity is not the explanation.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23760" y="5513832"/>
            <a:ext cx="4480560" cy="786384"/>
          </a:xfrm>
          <a:prstGeom prst="roundRect">
            <a:avLst>
              <a:gd name="adj" fmla="val 9302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88352" y="5678424"/>
            <a:ext cx="137160" cy="137160"/>
          </a:xfrm>
          <a:prstGeom prst="ellipse">
            <a:avLst/>
          </a:prstGeom>
          <a:solidFill>
            <a:srgbClr val="17475A"/>
          </a:solidFill>
          <a:ln w="12700">
            <a:solidFill>
              <a:srgbClr val="1747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07808" y="5586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interference is real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388352" y="58795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stacked sampling + focal class weights + contrastive: majority recall collapsed to 0.18.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didn’t work, and honest limitations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DINOv2  ·  DCU School of Computing</a:t>
            </a:r>
            <a:endParaRPr lang="en-US" sz="950" dirty="0"/>
          </a:p>
        </p:txBody>
      </p:sp>
      <p:sp>
        <p:nvSpPr>
          <p:cNvPr id="201" name="LblTable"/>
          <p:cNvSpPr/>
          <p:nvPr/>
        </p:nvSpPr>
        <p:spPr>
          <a:xfrm>
            <a:off x="50292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0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challenges</a:t>
            </a:r>
          </a:p>
        </p:txBody>
      </p:sp>
      <p:graphicFrame>
        <p:nvGraphicFramePr>
          <p:cNvPr id="202" name="TblLimits"/>
          <p:cNvGraphicFramePr>
            <a:graphicFrameLocks noGrp="1"/>
          </p:cNvGraphicFramePr>
          <p:nvPr/>
        </p:nvGraphicFramePr>
        <p:xfrm>
          <a:off x="502920" y="1572768"/>
          <a:ext cx="5486400" cy="261518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Dermatofibroma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191 training samples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Actinic keratoses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with BCC (36%)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Vascular lesions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202 training samples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 cell carc.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D95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62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with BCC (27%)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3" name="UnmetBg"/>
          <p:cNvSpPr/>
          <p:nvPr/>
        </p:nvSpPr>
        <p:spPr>
          <a:xfrm>
            <a:off x="502920" y="4681728"/>
            <a:ext cx="5486400" cy="1143000"/>
          </a:xfrm>
          <a:prstGeom prst="roundRect">
            <a:avLst>
              <a:gd name="adj" fmla="val 12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04" name="UnmetDot"/>
          <p:cNvSpPr/>
          <p:nvPr/>
        </p:nvSpPr>
        <p:spPr>
          <a:xfrm>
            <a:off x="685800" y="4919472"/>
            <a:ext cx="137160" cy="137160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05" name="UnmetHead"/>
          <p:cNvSpPr/>
          <p:nvPr/>
        </p:nvSpPr>
        <p:spPr>
          <a:xfrm>
            <a:off x="914400" y="48280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i="0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targets</a:t>
            </a:r>
          </a:p>
        </p:txBody>
      </p:sp>
      <p:sp>
        <p:nvSpPr>
          <p:cNvPr id="206" name="UnmetBody"/>
          <p:cNvSpPr/>
          <p:nvPr/>
        </p:nvSpPr>
        <p:spPr>
          <a:xfrm>
            <a:off x="685800" y="5157216"/>
            <a:ext cx="5120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0.7236 against a 0.80 target, and 6 of 14 classes still below 0.70 recall. The whole gap sits in data-limited oncological and benign classes.</a:t>
            </a:r>
          </a:p>
        </p:txBody>
      </p:sp>
      <p:sp>
        <p:nvSpPr>
          <p:cNvPr id="207" name="LblV1"/>
          <p:cNvSpPr/>
          <p:nvPr/>
        </p:nvSpPr>
        <p:spPr>
          <a:xfrm>
            <a:off x="6355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0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over-correction — fixed in v2</a:t>
            </a:r>
          </a:p>
        </p:txBody>
      </p:sp>
      <p:sp>
        <p:nvSpPr>
          <p:cNvPr id="208" name="V1aBg"/>
          <p:cNvSpPr/>
          <p:nvPr/>
        </p:nvSpPr>
        <p:spPr>
          <a:xfrm>
            <a:off x="6355080" y="1572768"/>
            <a:ext cx="5330952" cy="1143000"/>
          </a:xfrm>
          <a:prstGeom prst="roundRect">
            <a:avLst>
              <a:gd name="adj" fmla="val 12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09" name="V1aDot"/>
          <p:cNvSpPr/>
          <p:nvPr/>
        </p:nvSpPr>
        <p:spPr>
          <a:xfrm>
            <a:off x="6537960" y="1810512"/>
            <a:ext cx="137160" cy="137160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210" name="V1aHead"/>
          <p:cNvSpPr/>
          <p:nvPr/>
        </p:nvSpPr>
        <p:spPr>
          <a:xfrm>
            <a:off x="6766560" y="171907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i="0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corrections stacked at once</a:t>
            </a:r>
          </a:p>
        </p:txBody>
      </p:sp>
      <p:sp>
        <p:nvSpPr>
          <p:cNvPr id="211" name="V1aBody"/>
          <p:cNvSpPr/>
          <p:nvPr/>
        </p:nvSpPr>
        <p:spPr>
          <a:xfrm>
            <a:off x="6537960" y="2048256"/>
            <a:ext cx="4965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sampler, focal loss with class weights and a contrastive term all pushed against the same imbalance — triple suppression of the majority classes.</a:t>
            </a:r>
          </a:p>
        </p:txBody>
      </p:sp>
      <p:sp>
        <p:nvSpPr>
          <p:cNvPr id="212" name="V1bBg"/>
          <p:cNvSpPr/>
          <p:nvPr/>
        </p:nvSpPr>
        <p:spPr>
          <a:xfrm>
            <a:off x="6355080" y="3127248"/>
            <a:ext cx="5330952" cy="1143000"/>
          </a:xfrm>
          <a:prstGeom prst="roundRect">
            <a:avLst>
              <a:gd name="adj" fmla="val 12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13" name="V1bDot"/>
          <p:cNvSpPr/>
          <p:nvPr/>
        </p:nvSpPr>
        <p:spPr>
          <a:xfrm>
            <a:off x="6537960" y="3364992"/>
            <a:ext cx="137160" cy="137160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214" name="V1bHead"/>
          <p:cNvSpPr/>
          <p:nvPr/>
        </p:nvSpPr>
        <p:spPr>
          <a:xfrm>
            <a:off x="6766560" y="327355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i="0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classes collapsed</a:t>
            </a:r>
          </a:p>
        </p:txBody>
      </p:sp>
      <p:sp>
        <p:nvSpPr>
          <p:cNvPr id="215" name="V1bBody"/>
          <p:cNvSpPr/>
          <p:nvPr/>
        </p:nvSpPr>
        <p:spPr>
          <a:xfrm>
            <a:off x="6537960" y="3602736"/>
            <a:ext cx="4965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Melanocytic nevi recall fell from 0.57 to 0.18 and overall accuracy dropped to 50% — worse than the baseline it was meant to beat.</a:t>
            </a:r>
          </a:p>
        </p:txBody>
      </p:sp>
      <p:sp>
        <p:nvSpPr>
          <p:cNvPr id="216" name="V1cBg"/>
          <p:cNvSpPr/>
          <p:nvPr/>
        </p:nvSpPr>
        <p:spPr>
          <a:xfrm>
            <a:off x="6355080" y="4681728"/>
            <a:ext cx="5330952" cy="1143000"/>
          </a:xfrm>
          <a:prstGeom prst="roundRect">
            <a:avLst>
              <a:gd name="adj" fmla="val 12000"/>
            </a:avLst>
          </a:prstGeom>
          <a:solidFill>
            <a:srgbClr val="F1F6F7"/>
          </a:solidFill>
          <a:ln w="12700">
            <a:solidFill>
              <a:srgbClr val="F1F6F7"/>
            </a:solidFill>
            <a:prstDash val="solid"/>
          </a:ln>
        </p:spPr>
      </p:sp>
      <p:sp>
        <p:nvSpPr>
          <p:cNvPr id="217" name="V1cDot"/>
          <p:cNvSpPr/>
          <p:nvPr/>
        </p:nvSpPr>
        <p:spPr>
          <a:xfrm>
            <a:off x="6537960" y="4919472"/>
            <a:ext cx="137160" cy="137160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218" name="V1cHead"/>
          <p:cNvSpPr/>
          <p:nvPr/>
        </p:nvSpPr>
        <p:spPr>
          <a:xfrm>
            <a:off x="6766560" y="482803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i="0" dirty="0">
                <a:solidFill>
                  <a:srgbClr val="10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fixed it in v2</a:t>
            </a:r>
          </a:p>
        </p:txBody>
      </p:sp>
      <p:sp>
        <p:nvSpPr>
          <p:cNvPr id="219" name="V1cBody"/>
          <p:cNvSpPr/>
          <p:nvPr/>
        </p:nvSpPr>
        <p:spPr>
          <a:xfrm>
            <a:off x="6537960" y="5157216"/>
            <a:ext cx="4965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62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removed from the focal loss and the contrastive weight reduced from 0.3 to 0.1, leaving the sampler as the single rebalancing mechanism.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run, and where it goes next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walkthrough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7475A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66544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38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dermoscopic or clinical photo, no domain label given.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7475A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907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00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DINOv2-ViT-B/14 returns one 768-d CLS token.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67328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7475A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00507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877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16966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w₁, w₂ — shown live, so the domain decision is visible.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73659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7475A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974336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138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14-class logits → top-1 class with confidence.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8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single NVIDIA T4  ·  ≈500K trainable parameters  ·  backbone reusable across tasks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14173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18288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163F4F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2194560"/>
            <a:ext cx="137160" cy="137160"/>
          </a:xfrm>
          <a:prstGeom prst="ellipse">
            <a:avLst/>
          </a:prstGeom>
          <a:solidFill>
            <a:srgbClr val="5FD0C4"/>
          </a:solidFill>
          <a:ln w="12700">
            <a:solidFill>
              <a:srgbClr val="5FD0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unfreezing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22128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last DINOv2 blocks for fine-grained dermatoscopic texture, keeping the rest frozen.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2798064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163F4F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5392" y="3163824"/>
            <a:ext cx="137160" cy="137160"/>
          </a:xfrm>
          <a:prstGeom prst="ellipse">
            <a:avLst/>
          </a:prstGeom>
          <a:solidFill>
            <a:srgbClr val="2E7DBD"/>
          </a:solidFill>
          <a:ln w="12700">
            <a:solidFill>
              <a:srgbClr val="2E7D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2889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data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31821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augmentation for the four classes under 300 samples — dermatofibroma first.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3767328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163F4F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5392" y="4133088"/>
            <a:ext cx="137160" cy="137160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Domain-adversarial training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12280" y="41513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source-invariant features so HAM10000 and MSLDv2.0 become indistinguishable to the encoder.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55080" y="4736592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163F4F"/>
          </a:solidFill>
          <a:ln w="12700">
            <a:solidFill>
              <a:srgbClr val="2A64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5102352"/>
            <a:ext cx="137160" cy="137160"/>
          </a:xfrm>
          <a:prstGeom prst="ellipse">
            <a:avLst/>
          </a:prstGeom>
          <a:solidFill>
            <a:srgbClr val="D9543C"/>
          </a:solidFill>
          <a:ln w="12700">
            <a:solidFill>
              <a:srgbClr val="D954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4828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12280" y="5120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evaluation on unseen acquisition hardware before any screening claim is made.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57607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i="1" dirty="0">
                <a:solidFill>
                  <a:srgbClr val="5F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  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2075</Words>
  <Application>Microsoft Office PowerPoint</Application>
  <PresentationFormat>Widescreen</PresentationFormat>
  <Paragraphs>481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Dual-Stream DINOv2 for Multi-Domain Skin Disease Classification</dc:title>
  <dc:subject>PptxGenJS Presentation</dc:subject>
  <dc:creator>Kanjarla &amp; Mohammed</dc:creator>
  <cp:lastModifiedBy>kanjarla sawanth</cp:lastModifiedBy>
  <cp:revision>3</cp:revision>
  <dcterms:created xsi:type="dcterms:W3CDTF">2026-08-05T19:36:36Z</dcterms:created>
  <dcterms:modified xsi:type="dcterms:W3CDTF">2026-08-05T20:55:47Z</dcterms:modified>
</cp:coreProperties>
</file>